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40" r:id="rId10"/>
    <p:sldId id="339"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5033" autoAdjust="0"/>
  </p:normalViewPr>
  <p:slideViewPr>
    <p:cSldViewPr snapToGrid="0">
      <p:cViewPr varScale="1">
        <p:scale>
          <a:sx n="82" d="100"/>
          <a:sy n="82" d="100"/>
        </p:scale>
        <p:origin x="557"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224749"/>
            <a:ext cx="4987723" cy="861497"/>
          </a:xfrm>
        </p:spPr>
        <p:txBody>
          <a:bodyPr vert="horz" lIns="91440" tIns="45720" rIns="91440" bIns="45720" rtlCol="0" anchor="t">
            <a:normAutofit/>
          </a:bodyPr>
          <a:lstStyle/>
          <a:p>
            <a:pPr algn="r"/>
            <a:r>
              <a:rPr lang="en-US" dirty="0">
                <a:solidFill>
                  <a:schemeClr val="tx1"/>
                </a:solidFill>
              </a:rPr>
              <a:t>Student Name</a:t>
            </a:r>
            <a:r>
              <a:rPr lang="en-US" b="0" dirty="0">
                <a:solidFill>
                  <a:schemeClr val="tx1"/>
                </a:solidFill>
              </a:rPr>
              <a:t>: Vijay </a:t>
            </a:r>
            <a:r>
              <a:rPr lang="en-US" b="0" dirty="0" err="1">
                <a:solidFill>
                  <a:schemeClr val="tx1"/>
                </a:solidFill>
              </a:rPr>
              <a:t>Surybhan</a:t>
            </a:r>
            <a:r>
              <a:rPr lang="en-US" b="0" dirty="0">
                <a:solidFill>
                  <a:schemeClr val="tx1"/>
                </a:solidFill>
              </a:rPr>
              <a:t> Sonavane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906794" y="2542566"/>
            <a:ext cx="10378412" cy="743448"/>
          </a:xfrm>
        </p:spPr>
        <p:txBody>
          <a:bodyPr>
            <a:normAutofit fontScale="90000"/>
          </a:bodyPr>
          <a:lstStyle/>
          <a:p>
            <a:r>
              <a:rPr lang="en-GB" sz="3200" dirty="0"/>
              <a:t>Project Title -</a:t>
            </a:r>
            <a:r>
              <a:rPr lang="en-US" b="1" dirty="0"/>
              <a:t>Seasonal Agriculture Performance Analysis</a:t>
            </a:r>
            <a:br>
              <a:rPr lang="en-US" b="1" dirty="0"/>
            </a:br>
            <a:r>
              <a:rPr lang="en-GB" sz="3200" b="1" dirty="0"/>
              <a:t> </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06794" y="4422456"/>
            <a:ext cx="5378080" cy="369332"/>
          </a:xfrm>
          <a:prstGeom prst="rect">
            <a:avLst/>
          </a:prstGeom>
          <a:noFill/>
        </p:spPr>
        <p:txBody>
          <a:bodyPr wrap="square" rtlCol="0">
            <a:spAutoFit/>
          </a:bodyPr>
          <a:lstStyle/>
          <a:p>
            <a:r>
              <a:rPr lang="en-US" b="1" dirty="0"/>
              <a:t>AICTE STU ID:  STU65a2e36c70d161705173868</a:t>
            </a:r>
          </a:p>
        </p:txBody>
      </p:sp>
      <p:sp>
        <p:nvSpPr>
          <p:cNvPr id="5" name="TextBox 4">
            <a:extLst>
              <a:ext uri="{FF2B5EF4-FFF2-40B4-BE49-F238E27FC236}">
                <a16:creationId xmlns:a16="http://schemas.microsoft.com/office/drawing/2014/main" id="{0683673F-1624-EB04-E176-18D99A5FDD3F}"/>
              </a:ext>
            </a:extLst>
          </p:cNvPr>
          <p:cNvSpPr txBox="1"/>
          <p:nvPr/>
        </p:nvSpPr>
        <p:spPr>
          <a:xfrm>
            <a:off x="906794" y="3807042"/>
            <a:ext cx="6376455" cy="369332"/>
          </a:xfrm>
          <a:prstGeom prst="rect">
            <a:avLst/>
          </a:prstGeom>
          <a:noFill/>
        </p:spPr>
        <p:txBody>
          <a:bodyPr wrap="square" rtlCol="0">
            <a:spAutoFit/>
          </a:bodyPr>
          <a:lstStyle/>
          <a:p>
            <a:r>
              <a:rPr lang="en-US" b="1" dirty="0"/>
              <a:t>College Name- </a:t>
            </a:r>
            <a:r>
              <a:rPr lang="en-US" dirty="0" err="1"/>
              <a:t>Sinhgad</a:t>
            </a:r>
            <a:r>
              <a:rPr lang="en-US" dirty="0"/>
              <a:t> Institute of Technology, Lonavala </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US" sz="2200" b="0" dirty="0"/>
              <a:t>The Seasonal Agriculture Performance Analysis project investigates how farming practices, environmental conditions, and crop outcomes in India vary across the Kharif, Rabi, and Zaid seasons. By analyzing a dataset of 4,000 farm records, the project aims to identify meaningful patterns in crop yield, resource efficiency, and economic profitability to support data-driven agricultural planning.</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r>
              <a:rPr lang="en-US" b="1" dirty="0"/>
              <a:t>Farmers &amp; Agronomists</a:t>
            </a:r>
          </a:p>
          <a:p>
            <a:r>
              <a:rPr lang="en-US" dirty="0"/>
              <a:t>Can leverage insights to optimize their irrigation methods (such as selecting Drip vs. Sprinkler) and choose crops suited for specific seasonal profiles to maximize yield and boost overall profitability.</a:t>
            </a:r>
          </a:p>
          <a:p>
            <a:r>
              <a:rPr lang="en-US" b="1" dirty="0"/>
              <a:t>Government &amp; Policy Makers</a:t>
            </a:r>
          </a:p>
          <a:p>
            <a:r>
              <a:rPr lang="en-US" dirty="0"/>
              <a:t>Can utilize these seasonal risk patterns to strategically prioritize agricultural subsidies, crop insurance, or market price support—especially during the highly volatile Zaid season.</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08922" y="1432560"/>
            <a:ext cx="8009398" cy="4147146"/>
          </a:xfrm>
        </p:spPr>
        <p:txBody>
          <a:bodyPr>
            <a:normAutofit fontScale="92500" lnSpcReduction="20000"/>
          </a:bodyPr>
          <a:lstStyle/>
          <a:p>
            <a:r>
              <a:rPr lang="en-US" b="1" dirty="0"/>
              <a:t>Python</a:t>
            </a:r>
          </a:p>
          <a:p>
            <a:r>
              <a:rPr lang="en-US" dirty="0"/>
              <a:t>The primary programming language utilized for orchestrating data processing and complex statistical analysis.</a:t>
            </a:r>
          </a:p>
          <a:p>
            <a:r>
              <a:rPr lang="en-US" b="1" dirty="0"/>
              <a:t>Pandas &amp; NumPy</a:t>
            </a:r>
          </a:p>
          <a:p>
            <a:r>
              <a:rPr lang="en-US" dirty="0"/>
              <a:t>Essential for </a:t>
            </a:r>
            <a:r>
              <a:rPr lang="en-US" dirty="0" err="1"/>
              <a:t>dataframe</a:t>
            </a:r>
            <a:r>
              <a:rPr lang="en-US" dirty="0"/>
              <a:t> manipulation, missing value imputation, and calculating season-wise comparative metrics.</a:t>
            </a:r>
          </a:p>
          <a:p>
            <a:r>
              <a:rPr lang="en-US" b="1" dirty="0"/>
              <a:t>Visualization</a:t>
            </a:r>
          </a:p>
          <a:p>
            <a:r>
              <a:rPr lang="en-US" dirty="0"/>
              <a:t>Matplotlib and Seaborn enabled the creation of correlation heatmaps, boxplots, and visual distribution analyses.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Missing values:</a:t>
            </a:r>
            <a:endParaRPr lang="en-IN" dirty="0"/>
          </a:p>
        </p:txBody>
      </p:sp>
      <p:pic>
        <p:nvPicPr>
          <p:cNvPr id="3" name="Picture 2">
            <a:extLst>
              <a:ext uri="{FF2B5EF4-FFF2-40B4-BE49-F238E27FC236}">
                <a16:creationId xmlns:a16="http://schemas.microsoft.com/office/drawing/2014/main" id="{6DFC751A-C4C6-1C6D-35A6-F5FD7D761BCC}"/>
              </a:ext>
            </a:extLst>
          </p:cNvPr>
          <p:cNvPicPr>
            <a:picLocks noChangeAspect="1"/>
          </p:cNvPicPr>
          <p:nvPr/>
        </p:nvPicPr>
        <p:blipFill>
          <a:blip r:embed="rId3"/>
          <a:stretch>
            <a:fillRect/>
          </a:stretch>
        </p:blipFill>
        <p:spPr>
          <a:xfrm>
            <a:off x="807164" y="2015234"/>
            <a:ext cx="6274139" cy="412328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160BF96-F334-E75E-667E-030DB5691B9A}"/>
              </a:ext>
            </a:extLst>
          </p:cNvPr>
          <p:cNvPicPr>
            <a:picLocks noChangeAspect="1"/>
          </p:cNvPicPr>
          <p:nvPr/>
        </p:nvPicPr>
        <p:blipFill>
          <a:blip r:embed="rId3"/>
          <a:stretch>
            <a:fillRect/>
          </a:stretch>
        </p:blipFill>
        <p:spPr>
          <a:xfrm>
            <a:off x="423798" y="1275371"/>
            <a:ext cx="5513582" cy="3784684"/>
          </a:xfrm>
          <a:prstGeom prst="rect">
            <a:avLst/>
          </a:prstGeom>
        </p:spPr>
      </p:pic>
      <p:sp>
        <p:nvSpPr>
          <p:cNvPr id="6" name="TextBox 5">
            <a:extLst>
              <a:ext uri="{FF2B5EF4-FFF2-40B4-BE49-F238E27FC236}">
                <a16:creationId xmlns:a16="http://schemas.microsoft.com/office/drawing/2014/main" id="{9B7C70A1-8750-29DA-3B7E-80F1A33B9790}"/>
              </a:ext>
            </a:extLst>
          </p:cNvPr>
          <p:cNvSpPr txBox="1"/>
          <p:nvPr/>
        </p:nvSpPr>
        <p:spPr>
          <a:xfrm>
            <a:off x="578498" y="5439747"/>
            <a:ext cx="7539135" cy="1231106"/>
          </a:xfrm>
          <a:prstGeom prst="rect">
            <a:avLst/>
          </a:prstGeom>
          <a:noFill/>
        </p:spPr>
        <p:txBody>
          <a:bodyPr wrap="square" rtlCol="0">
            <a:spAutoFit/>
          </a:bodyPr>
          <a:lstStyle/>
          <a:p>
            <a:r>
              <a:rPr lang="en-US" sz="1400" dirty="0"/>
              <a:t>Disease and pest risk is highest in Kharif (~54%), likely linked to the higher rainfall and humidity, and lowest in Zaid (~38%), the driest season. </a:t>
            </a:r>
          </a:p>
          <a:p>
            <a:r>
              <a:rPr lang="en-US" sz="1400" dirty="0"/>
              <a:t>This is a useful counterpoint to </a:t>
            </a:r>
            <a:r>
              <a:rPr lang="en-US" sz="1400" dirty="0" err="1"/>
              <a:t>Kharif's</a:t>
            </a:r>
            <a:r>
              <a:rPr lang="en-US" sz="1400" dirty="0"/>
              <a:t> otherwise strong performance — higher yields there come with higher crop-protection risk.</a:t>
            </a:r>
          </a:p>
          <a:p>
            <a:endParaRPr lang="en-US"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E1964ADD-E862-01AD-65F3-5F8E920ACE44}"/>
              </a:ext>
            </a:extLst>
          </p:cNvPr>
          <p:cNvPicPr>
            <a:picLocks noChangeAspect="1"/>
          </p:cNvPicPr>
          <p:nvPr/>
        </p:nvPicPr>
        <p:blipFill>
          <a:blip r:embed="rId3"/>
          <a:stretch>
            <a:fillRect/>
          </a:stretch>
        </p:blipFill>
        <p:spPr>
          <a:xfrm>
            <a:off x="569167" y="1357593"/>
            <a:ext cx="5526833" cy="3825572"/>
          </a:xfrm>
          <a:prstGeom prst="rect">
            <a:avLst/>
          </a:prstGeom>
        </p:spPr>
      </p:pic>
      <p:sp>
        <p:nvSpPr>
          <p:cNvPr id="11" name="TextBox 10">
            <a:extLst>
              <a:ext uri="{FF2B5EF4-FFF2-40B4-BE49-F238E27FC236}">
                <a16:creationId xmlns:a16="http://schemas.microsoft.com/office/drawing/2014/main" id="{CE58E786-029C-0A14-B255-E88975DA774D}"/>
              </a:ext>
            </a:extLst>
          </p:cNvPr>
          <p:cNvSpPr txBox="1"/>
          <p:nvPr/>
        </p:nvSpPr>
        <p:spPr>
          <a:xfrm>
            <a:off x="494522" y="5355771"/>
            <a:ext cx="7996335" cy="1169551"/>
          </a:xfrm>
          <a:prstGeom prst="rect">
            <a:avLst/>
          </a:prstGeom>
          <a:noFill/>
        </p:spPr>
        <p:txBody>
          <a:bodyPr wrap="square" rtlCol="0">
            <a:spAutoFit/>
          </a:bodyPr>
          <a:lstStyle/>
          <a:p>
            <a:r>
              <a:rPr lang="en-US" sz="1400" dirty="0"/>
              <a:t>Six of the eight states swing to a negative average profit in Zaid. </a:t>
            </a:r>
          </a:p>
          <a:p>
            <a:r>
              <a:rPr lang="en-US" sz="1400" dirty="0"/>
              <a:t>Punjab stands out as the only state with a </a:t>
            </a:r>
            <a:r>
              <a:rPr lang="en-US" sz="1400" b="1" dirty="0"/>
              <a:t>positive average profit in all three seasons</a:t>
            </a:r>
            <a:r>
              <a:rPr lang="en-US" sz="1400" dirty="0"/>
              <a:t>, including Zaid (~₹62,000), suggesting its farming conditions or practices are more resilient to the hot, dry summer season than the rest of the dataset.</a:t>
            </a:r>
          </a:p>
          <a:p>
            <a:endParaRPr lang="en-US" sz="1400"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3" y="1431693"/>
            <a:ext cx="6069497" cy="4717180"/>
          </a:xfrm>
        </p:spPr>
        <p:txBody>
          <a:bodyPr>
            <a:normAutofit/>
          </a:bodyPr>
          <a:lstStyle/>
          <a:p>
            <a:r>
              <a:rPr lang="en-US" b="1" dirty="0"/>
              <a:t>The Risk of Loss</a:t>
            </a:r>
          </a:p>
          <a:p>
            <a:pPr marL="0" indent="0">
              <a:buNone/>
            </a:pPr>
            <a:r>
              <a:rPr lang="en-US" sz="3200" b="1" dirty="0"/>
              <a:t>49% </a:t>
            </a:r>
            <a:r>
              <a:rPr lang="en-US" b="1" dirty="0"/>
              <a:t>Total Farms Operating at a Loss</a:t>
            </a:r>
          </a:p>
          <a:p>
            <a:r>
              <a:rPr lang="en-US" b="1" dirty="0"/>
              <a:t>A Systemic Challenge</a:t>
            </a:r>
          </a:p>
          <a:p>
            <a:r>
              <a:rPr lang="en-US" dirty="0"/>
              <a:t>Nearly half of all farm records operate at a loss overall. This share rises steadily from Kharif to Zaid, demonstrating a clear and consistent seasonal risk pattern.</a:t>
            </a:r>
          </a:p>
          <a:p>
            <a:r>
              <a:rPr lang="en-US" dirty="0"/>
              <a:t>Disease and pest risk is actually highest in Kharif (~54%), meaning its strong yield and profit performance comes bundled with higher crop-protection demands.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442692" y="5144383"/>
            <a:ext cx="8757292" cy="827210"/>
          </a:xfrm>
        </p:spPr>
        <p:txBody>
          <a:bodyPr>
            <a:normAutofit fontScale="55000" lnSpcReduction="20000"/>
          </a:bodyPr>
          <a:lstStyle/>
          <a:p>
            <a:r>
              <a:rPr lang="en-US" dirty="0"/>
              <a:t>Average profit falls sharply from Kharif (~₹1.79 lakh) to Rabi (~₹0.88 lakh), and turns </a:t>
            </a:r>
            <a:r>
              <a:rPr lang="en-US" b="1" dirty="0"/>
              <a:t>negative</a:t>
            </a:r>
            <a:r>
              <a:rPr lang="en-US" dirty="0"/>
              <a:t> in Zaid (~-₹25,000) — even though average cost stays roughly similar across all three seasons. </a:t>
            </a:r>
          </a:p>
          <a:p>
            <a:r>
              <a:rPr lang="en-US" dirty="0"/>
              <a:t>This means the drop in profit is driven mainly by lower revenue (lower yield and/or lower prices), not by higher costs.</a:t>
            </a:r>
          </a:p>
        </p:txBody>
      </p:sp>
      <p:pic>
        <p:nvPicPr>
          <p:cNvPr id="9" name="Picture 8">
            <a:extLst>
              <a:ext uri="{FF2B5EF4-FFF2-40B4-BE49-F238E27FC236}">
                <a16:creationId xmlns:a16="http://schemas.microsoft.com/office/drawing/2014/main" id="{DBB7FF82-8F76-D11F-6EA6-A4A8ECEFC055}"/>
              </a:ext>
            </a:extLst>
          </p:cNvPr>
          <p:cNvPicPr>
            <a:picLocks noChangeAspect="1"/>
          </p:cNvPicPr>
          <p:nvPr/>
        </p:nvPicPr>
        <p:blipFill>
          <a:blip r:embed="rId3"/>
          <a:stretch>
            <a:fillRect/>
          </a:stretch>
        </p:blipFill>
        <p:spPr>
          <a:xfrm>
            <a:off x="986462" y="1201586"/>
            <a:ext cx="6485182" cy="385605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9F4DB98-46A5-35DB-39EF-0B9701BB3B23}"/>
              </a:ext>
            </a:extLst>
          </p:cNvPr>
          <p:cNvSpPr txBox="1"/>
          <p:nvPr/>
        </p:nvSpPr>
        <p:spPr>
          <a:xfrm>
            <a:off x="675957" y="1446245"/>
            <a:ext cx="6340663" cy="3693319"/>
          </a:xfrm>
          <a:prstGeom prst="rect">
            <a:avLst/>
          </a:prstGeom>
          <a:noFill/>
        </p:spPr>
        <p:txBody>
          <a:bodyPr wrap="square" rtlCol="0">
            <a:spAutoFit/>
          </a:bodyPr>
          <a:lstStyle/>
          <a:p>
            <a:pPr lvl="0"/>
            <a:r>
              <a:rPr lang="en-US" b="1" dirty="0"/>
              <a:t>Machine Learning Forecasts:</a:t>
            </a:r>
            <a:r>
              <a:rPr lang="en-US" dirty="0"/>
              <a:t> Develop predictive algorithms to forecast crop yields using pre-season environmental and resource indicators.</a:t>
            </a:r>
          </a:p>
          <a:p>
            <a:pPr lvl="0"/>
            <a:r>
              <a:rPr lang="en-US" b="1" dirty="0"/>
              <a:t>Interactive Dashboards:</a:t>
            </a:r>
            <a:r>
              <a:rPr lang="en-US" dirty="0"/>
              <a:t> Create localized tools for farmers to input specific farm conditions and receive real-time, season-specific recommendations.</a:t>
            </a:r>
          </a:p>
          <a:p>
            <a:pPr lvl="0"/>
            <a:r>
              <a:rPr lang="en-US" b="1" dirty="0"/>
              <a:t>Longitudinal Analysis:</a:t>
            </a:r>
            <a:r>
              <a:rPr lang="en-US" dirty="0"/>
              <a:t> Expand the dataset to include multi-year trends, allowing for better accounting of climate change and extreme weather.</a:t>
            </a:r>
          </a:p>
          <a:p>
            <a:pPr lvl="0"/>
            <a:r>
              <a:rPr lang="en-US" b="1" dirty="0"/>
              <a:t>Outlier Investigation:</a:t>
            </a:r>
            <a:r>
              <a:rPr lang="en-US" dirty="0"/>
              <a:t> Conduct deeper studies on extreme-loss outlier farms and highly resilient regions (like Punjab) to refine agricultural best practices.</a:t>
            </a:r>
          </a:p>
          <a:p>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275371"/>
            <a:ext cx="7232875" cy="646331"/>
          </a:xfrm>
          <a:prstGeom prst="rect">
            <a:avLst/>
          </a:prstGeom>
          <a:noFill/>
        </p:spPr>
        <p:txBody>
          <a:bodyPr wrap="square">
            <a:spAutoFit/>
          </a:bodyPr>
          <a:lstStyle/>
          <a:p>
            <a:r>
              <a:rPr lang="en-US" dirty="0"/>
              <a:t>https://github.com/vijay-sonavane9/Seasonal-Agriculture-Performance-Analysis.git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C7CA393-3DF8-64B0-6D08-1465140DEEA3}"/>
              </a:ext>
            </a:extLst>
          </p:cNvPr>
          <p:cNvPicPr>
            <a:picLocks noChangeAspect="1"/>
          </p:cNvPicPr>
          <p:nvPr/>
        </p:nvPicPr>
        <p:blipFill>
          <a:blip r:embed="rId3"/>
          <a:stretch>
            <a:fillRect/>
          </a:stretch>
        </p:blipFill>
        <p:spPr>
          <a:xfrm>
            <a:off x="1371600" y="1729708"/>
            <a:ext cx="6517655" cy="426054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878337" y="2259790"/>
            <a:ext cx="8668139" cy="2227077"/>
          </a:xfrm>
        </p:spPr>
        <p:txBody>
          <a:bodyPr>
            <a:normAutofit/>
          </a:bodyPr>
          <a:lstStyle/>
          <a:p>
            <a:r>
              <a:rPr lang="en-US" b="0" dirty="0"/>
              <a:t>A sincere thank you to VOIS and the Edunet Foundation for providing this incredible internship opportunity.</a:t>
            </a:r>
          </a:p>
          <a:p>
            <a:r>
              <a:rPr lang="en-US" b="0" dirty="0"/>
              <a:t>Your support and guidance have been invaluable in developing these skills.</a:t>
            </a: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1452</TotalTime>
  <Words>714</Words>
  <Application>Microsoft Office PowerPoint</Application>
  <PresentationFormat>Widescreen</PresentationFormat>
  <Paragraphs>50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The Seasonal Agriculture Performance Analysis project investigates how farming practices, environmental conditions, and crop outcomes in India vary across the Kharif, Rabi, and Zaid seasons. By analyzing a dataset of 4,000 farm records, the project aims to identify meaningful patterns in crop yield, resource efficiency, and economic profitability to support data-driven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Vijay Sonawane</cp:lastModifiedBy>
  <cp:revision>103</cp:revision>
  <dcterms:created xsi:type="dcterms:W3CDTF">2021-07-11T13:13:15Z</dcterms:created>
  <dcterms:modified xsi:type="dcterms:W3CDTF">2026-09-09T17:38:14Z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